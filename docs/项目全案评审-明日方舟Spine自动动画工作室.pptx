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 w="9525">
            <a:solidFill>
              <a:srgbClr val="0B0E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4094FF"/>
          </a:solidFill>
          <a:ln w="9525">
            <a:solidFill>
              <a:srgbClr val="409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22860"/>
          </a:xfrm>
          <a:prstGeom prst="rect">
            <a:avLst/>
          </a:prstGeom>
          <a:solidFill>
            <a:srgbClr val="B478FF"/>
          </a:solidFill>
          <a:ln w="9525">
            <a:solidFill>
              <a:srgbClr val="B47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3327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>
                <a:solidFill>
                  <a:srgbClr val="4094FF"/>
                </a:solidFill>
                <a:latin typeface="Microsoft YaHei"/>
                <a:ea typeface="Microsoft YaHei"/>
              </a:rPr>
              <a:t>ARKNIGHTS SPINE AUTO-STUDIO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10332720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12000"/>
              </a:lnSpc>
            </a:pPr>
            <a:r>
              <a:rPr sz="4400" b="1">
                <a:solidFill>
                  <a:srgbClr val="F2F5FA"/>
                </a:solidFill>
                <a:latin typeface="Microsoft YaHei"/>
                <a:ea typeface="Microsoft YaHei"/>
              </a:rPr>
              <a:t>明日方舟 Spine 自动动画工作室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103327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0">
                <a:solidFill>
                  <a:srgbClr val="B8C2D4"/>
                </a:solidFill>
                <a:latin typeface="Microsoft YaHei"/>
                <a:ea typeface="Microsoft YaHei"/>
              </a:rPr>
              <a:t>项目全案技术评审报告 · 文件级详解 · 难度与 AI 能力评估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9304" y="4069080"/>
            <a:ext cx="1869948" cy="457200"/>
          </a:xfrm>
          <a:prstGeom prst="roundRect">
            <a:avLst/>
          </a:prstGeom>
          <a:solidFill>
            <a:srgbClr val="141B29"/>
          </a:solidFill>
          <a:ln w="9525">
            <a:solidFill>
              <a:srgbClr val="00C8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9304" y="4069080"/>
            <a:ext cx="1869948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>
                <a:solidFill>
                  <a:srgbClr val="00C882"/>
                </a:solidFill>
                <a:latin typeface="Microsoft YaHei"/>
                <a:ea typeface="Microsoft YaHei"/>
              </a:rPr>
              <a:t>自然语言 → 角色动画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6411" y="4069080"/>
            <a:ext cx="1586484" cy="457200"/>
          </a:xfrm>
          <a:prstGeom prst="roundRect">
            <a:avLst/>
          </a:prstGeom>
          <a:solidFill>
            <a:srgbClr val="141B29"/>
          </a:solidFill>
          <a:ln w="9525">
            <a:solidFill>
              <a:srgbClr val="00C8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6411" y="4069080"/>
            <a:ext cx="1586484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>
                <a:solidFill>
                  <a:srgbClr val="00C882"/>
                </a:solidFill>
                <a:latin typeface="Microsoft YaHei"/>
                <a:ea typeface="Microsoft YaHei"/>
              </a:rPr>
              <a:t>PRTS 资源抓取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0055" y="4069080"/>
            <a:ext cx="1161288" cy="457200"/>
          </a:xfrm>
          <a:prstGeom prst="roundRect">
            <a:avLst/>
          </a:prstGeom>
          <a:solidFill>
            <a:srgbClr val="141B29"/>
          </a:solidFill>
          <a:ln w="9525">
            <a:solidFill>
              <a:srgbClr val="00C8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0055" y="4069080"/>
            <a:ext cx="1161288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>
                <a:solidFill>
                  <a:srgbClr val="00C882"/>
                </a:solidFill>
                <a:latin typeface="Microsoft YaHei"/>
                <a:ea typeface="Microsoft YaHei"/>
              </a:rPr>
              <a:t>AI 高清化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18503" y="4069080"/>
            <a:ext cx="1586484" cy="457200"/>
          </a:xfrm>
          <a:prstGeom prst="roundRect">
            <a:avLst/>
          </a:prstGeom>
          <a:solidFill>
            <a:srgbClr val="141B29"/>
          </a:solidFill>
          <a:ln w="9525">
            <a:solidFill>
              <a:srgbClr val="00C8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8503" y="4069080"/>
            <a:ext cx="1586484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>
                <a:solidFill>
                  <a:srgbClr val="00C882"/>
                </a:solidFill>
                <a:latin typeface="Microsoft YaHei"/>
                <a:ea typeface="Microsoft YaHei"/>
              </a:rPr>
              <a:t>LLM 时间轴编排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2148" y="4069080"/>
            <a:ext cx="2011679" cy="457200"/>
          </a:xfrm>
          <a:prstGeom prst="roundRect">
            <a:avLst/>
          </a:prstGeom>
          <a:solidFill>
            <a:srgbClr val="141B29"/>
          </a:solidFill>
          <a:ln w="9525">
            <a:solidFill>
              <a:srgbClr val="00C8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2148" y="4069080"/>
            <a:ext cx="2011679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>
                <a:solidFill>
                  <a:srgbClr val="00C882"/>
                </a:solidFill>
                <a:latin typeface="Microsoft YaHei"/>
                <a:ea typeface="Microsoft YaHei"/>
              </a:rPr>
              <a:t>GIF / MP4 导出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8A96AC"/>
                </a:solidFill>
                <a:latin typeface="Microsoft YaHei"/>
                <a:ea typeface="Microsoft YaHei"/>
              </a:rPr>
              <a:t>版本 v1.1.0 · 2026-08-01 · 开发者 yiyuxi123 · 由 DeepSeek V4 Flash 协作完成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32120"/>
            <a:ext cx="1033272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>
                <a:solidFill>
                  <a:srgbClr val="8A96AC"/>
                </a:solidFill>
                <a:latin typeface="Microsoft YaHei"/>
                <a:ea typeface="Microsoft YaHei"/>
              </a:rPr>
              <a:t>16 个 Git 提交 · 188 个文件 · 约 13.7 万行（含资源） · 代码约 1.2 万行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01622"/>
          </a:solidFill>
          <a:ln w="9525">
            <a:solidFill>
              <a:srgbClr val="0B0E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37744"/>
            <a:ext cx="82296" cy="475488"/>
          </a:xfrm>
          <a:prstGeom prst="rect">
            <a:avLst/>
          </a:prstGeom>
          <a:solidFill>
            <a:srgbClr val="4094FF"/>
          </a:solidFill>
          <a:ln w="9525">
            <a:solidFill>
              <a:srgbClr val="409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46304"/>
            <a:ext cx="10241280" cy="5669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F2F5FA"/>
                </a:solidFill>
                <a:latin typeface="Microsoft YaHei"/>
                <a:ea typeface="Microsoft YaHei"/>
              </a:rPr>
              <a:t>项目是什么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105156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8A96AC"/>
                </a:solidFill>
                <a:latin typeface="Microsoft YaHei"/>
                <a:ea typeface="Microsoft YaHei"/>
              </a:rPr>
              <a:t>一段话概括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7772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1">
                <a:solidFill>
                  <a:srgbClr val="8A96AC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1124712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F2F5FA"/>
                </a:solidFill>
                <a:latin typeface="Microsoft YaHei"/>
                <a:ea typeface="Microsoft YaHei"/>
              </a:rPr>
              <a:t>「明日方舟 Spine 自动动画工作室」是一款单机桌面生产力工具：输入一句自然语言（如“先睡觉，然后起来跑步，最后累趴下”），即可自动完成 —— 角色资源抓取 → 可选高清化 → 动作识别与打标 → 时间轴编排 → 无头渲染 → 导出 GIF/MP4。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1124712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4094FF"/>
                </a:solidFill>
                <a:latin typeface="Microsoft YaHei"/>
                <a:ea typeface="Microsoft YaHei"/>
              </a:rPr>
              <a:t>核心能力矩阵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2697480"/>
          <a:ext cx="11201400" cy="34381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6309360"/>
                <a:gridCol w="25146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2F5FA"/>
                          </a:solidFill>
                          <a:latin typeface="Microsoft YaHei"/>
                          <a:ea typeface="Microsoft YaHei"/>
                        </a:rPr>
                        <a:t>能力</a:t>
                      </a:r>
                    </a:p>
                  </a:txBody>
                  <a:tcPr marL="54864" marR="36576" marT="13716" marB="13716" anchor="ctr">
                    <a:solidFill>
                      <a:srgbClr val="409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2F5FA"/>
                          </a:solidFill>
                          <a:latin typeface="Microsoft YaHei"/>
                          <a:ea typeface="Microsoft YaHei"/>
                        </a:rPr>
                        <a:t>说明</a:t>
                      </a:r>
                    </a:p>
                  </a:txBody>
                  <a:tcPr marL="54864" marR="36576" marT="13716" marB="13716" anchor="ctr">
                    <a:solidFill>
                      <a:srgbClr val="409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2F5FA"/>
                          </a:solidFill>
                          <a:latin typeface="Microsoft YaHei"/>
                          <a:ea typeface="Microsoft YaHei"/>
                        </a:rPr>
                        <a:t>实现层级</a:t>
                      </a:r>
                    </a:p>
                  </a:txBody>
                  <a:tcPr marL="54864" marR="36576" marT="13716" marB="13716" anchor="ctr">
                    <a:solidFill>
                      <a:srgbClr val="409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PRTS 资源抓取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按中文名/ID 解析干员、异格、敌人、多皮肤多视图，下载 .skel/.atlas/.png 三件套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src/prts.mjs + download.mjs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AI 高清化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atlas 与 PNG 同步放大（Lanczos3），可选 Real-ESRGAN / Waifu2x / Real-CUGAN 超分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src/upscale.mjs + sr.mjs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动作语义打标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离线规则 → 千问视觉看图打标 → 用户微调，三层渐进，结果入本地动作字典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src/label.mjs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LLM 时间轴编排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DeepSeek V4 Flash 读取动作字典，把自然语言映射为 Timeline JSON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src/choreograph.mjs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手动时间轴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PR 式色块条：时长/循环/倍速/次数/顺序/视图切换，完全可控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desktop/ui/app.js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无头渲染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自研 CDP 驱动 Chrome + Spine Web Player 3.8，逐帧捕获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src/cdp.mjs + render.mjs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媒体导出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自研 GIF89a 编码器、PNG 编解码、FFmpeg MP4 流式管道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src/gif.mjs + png.mjs + ffmpeg.mjs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性能监测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进程树 CPU/内存/GPU 实时图表（WMI 采样）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src/perf.mjs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01622"/>
          </a:solidFill>
          <a:ln w="9525">
            <a:solidFill>
              <a:srgbClr val="0B0E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37744"/>
            <a:ext cx="82296" cy="475488"/>
          </a:xfrm>
          <a:prstGeom prst="rect">
            <a:avLst/>
          </a:prstGeom>
          <a:solidFill>
            <a:srgbClr val="4094FF"/>
          </a:solidFill>
          <a:ln w="9525">
            <a:solidFill>
              <a:srgbClr val="409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46304"/>
            <a:ext cx="10241280" cy="5669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F2F5FA"/>
                </a:solidFill>
                <a:latin typeface="Microsoft YaHei"/>
                <a:ea typeface="Microsoft YaHei"/>
              </a:rPr>
              <a:t>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105156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8A96AC"/>
                </a:solidFill>
                <a:latin typeface="Microsoft YaHei"/>
                <a:ea typeface="Microsoft YaHei"/>
              </a:rPr>
              <a:t>单机/微服务式分层：Electron 壳 + 本地 HTTP 服务 + 无头浏览器渲染引擎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7772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1">
                <a:solidFill>
                  <a:srgbClr val="8A96AC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88720"/>
            <a:ext cx="2148840" cy="713232"/>
          </a:xfrm>
          <a:prstGeom prst="roundRect">
            <a:avLst/>
          </a:prstGeom>
          <a:solidFill>
            <a:srgbClr val="161D2B"/>
          </a:solidFill>
          <a:ln w="9525">
            <a:solidFill>
              <a:srgbClr val="409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88720"/>
            <a:ext cx="2148840" cy="7132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12000"/>
              </a:lnSpc>
            </a:pPr>
            <a:r>
              <a:rPr sz="1450" b="1">
                <a:solidFill>
                  <a:srgbClr val="4094FF"/>
                </a:solidFill>
                <a:latin typeface="Microsoft YaHei"/>
                <a:ea typeface="Microsoft YaHei"/>
              </a:rPr>
              <a:t>用户交互层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188720"/>
            <a:ext cx="8686800" cy="713232"/>
          </a:xfrm>
          <a:prstGeom prst="roundRect">
            <a:avLst/>
          </a:prstGeom>
          <a:solidFill>
            <a:srgbClr val="1A2130"/>
          </a:solidFill>
          <a:ln w="9525">
            <a:solidFill>
              <a:srgbClr val="2A3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188720"/>
            <a:ext cx="8366760" cy="7132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B8C2D4"/>
                </a:solidFill>
                <a:latin typeface="Microsoft YaHei"/>
                <a:ea typeface="Microsoft YaHei"/>
              </a:rPr>
              <a:t>Electron 桌面窗口 / Chrome 应用窗口 · desktop/ui（原生 HTML/CSS/JS 单页应用）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54480" y="1901952"/>
            <a:ext cx="256032" cy="91440"/>
          </a:xfrm>
          <a:prstGeom prst="rect">
            <a:avLst/>
          </a:prstGeom>
          <a:solidFill>
            <a:srgbClr val="4094FF"/>
          </a:solidFill>
          <a:ln w="9525">
            <a:solidFill>
              <a:srgbClr val="409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23760" y="1901952"/>
            <a:ext cx="256032" cy="91440"/>
          </a:xfrm>
          <a:prstGeom prst="rect">
            <a:avLst/>
          </a:prstGeom>
          <a:solidFill>
            <a:srgbClr val="4094FF"/>
          </a:solidFill>
          <a:ln w="9525">
            <a:solidFill>
              <a:srgbClr val="409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2011680"/>
            <a:ext cx="2148840" cy="713232"/>
          </a:xfrm>
          <a:prstGeom prst="roundRect">
            <a:avLst/>
          </a:prstGeom>
          <a:solidFill>
            <a:srgbClr val="161D2B"/>
          </a:solidFill>
          <a:ln w="9525">
            <a:solidFill>
              <a:srgbClr val="00C8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011680"/>
            <a:ext cx="2148840" cy="7132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12000"/>
              </a:lnSpc>
            </a:pPr>
            <a:r>
              <a:rPr sz="1450" b="1">
                <a:solidFill>
                  <a:srgbClr val="00C882"/>
                </a:solidFill>
                <a:latin typeface="Microsoft YaHei"/>
                <a:ea typeface="Microsoft YaHei"/>
              </a:rPr>
              <a:t>本地服务层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2011680"/>
            <a:ext cx="8686800" cy="713232"/>
          </a:xfrm>
          <a:prstGeom prst="roundRect">
            <a:avLst/>
          </a:prstGeom>
          <a:solidFill>
            <a:srgbClr val="1A2130"/>
          </a:solidFill>
          <a:ln w="9525">
            <a:solidFill>
              <a:srgbClr val="2A3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2011680"/>
            <a:ext cx="8366760" cy="7132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B8C2D4"/>
                </a:solidFill>
                <a:latin typeface="Microsoft YaHei"/>
                <a:ea typeface="Microsoft YaHei"/>
              </a:rPr>
              <a:t>desktop/server.mjs · Node HTTP + SSE · 任务串行队列 · API Key 环境注入 · 静态资源服务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2724912"/>
            <a:ext cx="256032" cy="91440"/>
          </a:xfrm>
          <a:prstGeom prst="rect">
            <a:avLst/>
          </a:prstGeom>
          <a:solidFill>
            <a:srgbClr val="00C882"/>
          </a:solidFill>
          <a:ln w="9525">
            <a:solidFill>
              <a:srgbClr val="00C8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23760" y="2724912"/>
            <a:ext cx="256032" cy="91440"/>
          </a:xfrm>
          <a:prstGeom prst="rect">
            <a:avLst/>
          </a:prstGeom>
          <a:solidFill>
            <a:srgbClr val="00C882"/>
          </a:solidFill>
          <a:ln w="9525">
            <a:solidFill>
              <a:srgbClr val="00C8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2834640"/>
            <a:ext cx="2148840" cy="713232"/>
          </a:xfrm>
          <a:prstGeom prst="roundRect">
            <a:avLst/>
          </a:prstGeom>
          <a:solidFill>
            <a:srgbClr val="161D2B"/>
          </a:solidFill>
          <a:ln w="9525">
            <a:solidFill>
              <a:srgbClr val="B47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834640"/>
            <a:ext cx="2148840" cy="7132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12000"/>
              </a:lnSpc>
            </a:pPr>
            <a:r>
              <a:rPr sz="1450" b="1">
                <a:solidFill>
                  <a:srgbClr val="B478FF"/>
                </a:solidFill>
                <a:latin typeface="Microsoft YaHei"/>
                <a:ea typeface="Microsoft YaHei"/>
              </a:rPr>
              <a:t>AI 服务层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80" y="2834640"/>
            <a:ext cx="8686800" cy="713232"/>
          </a:xfrm>
          <a:prstGeom prst="roundRect">
            <a:avLst/>
          </a:prstGeom>
          <a:solidFill>
            <a:srgbClr val="1A2130"/>
          </a:solidFill>
          <a:ln w="9525">
            <a:solidFill>
              <a:srgbClr val="2A3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0" y="2834640"/>
            <a:ext cx="8366760" cy="7132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B8C2D4"/>
                </a:solidFill>
                <a:latin typeface="Microsoft YaHei"/>
                <a:ea typeface="Microsoft YaHei"/>
              </a:rPr>
              <a:t>DeepSeek V4 Flash（动作编排）· Qwen-VL（视觉打标）· 全部走 OpenAI 兼容 HTTP，无需 SDK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54480" y="3547872"/>
            <a:ext cx="256032" cy="91440"/>
          </a:xfrm>
          <a:prstGeom prst="rect">
            <a:avLst/>
          </a:prstGeom>
          <a:solidFill>
            <a:srgbClr val="B478FF"/>
          </a:solidFill>
          <a:ln w="9525">
            <a:solidFill>
              <a:srgbClr val="B47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23760" y="3547872"/>
            <a:ext cx="256032" cy="91440"/>
          </a:xfrm>
          <a:prstGeom prst="rect">
            <a:avLst/>
          </a:prstGeom>
          <a:solidFill>
            <a:srgbClr val="B478FF"/>
          </a:solidFill>
          <a:ln w="9525">
            <a:solidFill>
              <a:srgbClr val="B47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3657600"/>
            <a:ext cx="2148840" cy="713232"/>
          </a:xfrm>
          <a:prstGeom prst="roundRect">
            <a:avLst/>
          </a:prstGeom>
          <a:solidFill>
            <a:srgbClr val="161D2B"/>
          </a:solidFill>
          <a:ln w="9525">
            <a:solidFill>
              <a:srgbClr val="FF9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657600"/>
            <a:ext cx="2148840" cy="7132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12000"/>
              </a:lnSpc>
            </a:pPr>
            <a:r>
              <a:rPr sz="1450" b="1">
                <a:solidFill>
                  <a:srgbClr val="FF9F43"/>
                </a:solidFill>
                <a:latin typeface="Microsoft YaHei"/>
                <a:ea typeface="Microsoft YaHei"/>
              </a:rPr>
              <a:t>核心引擎层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26080" y="3657600"/>
            <a:ext cx="8686800" cy="713232"/>
          </a:xfrm>
          <a:prstGeom prst="roundRect">
            <a:avLst/>
          </a:prstGeom>
          <a:solidFill>
            <a:srgbClr val="1A2130"/>
          </a:solidFill>
          <a:ln w="9525">
            <a:solidFill>
              <a:srgbClr val="2A3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08960" y="3657600"/>
            <a:ext cx="8366760" cy="7132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B8C2D4"/>
                </a:solidFill>
                <a:latin typeface="Microsoft YaHei"/>
                <a:ea typeface="Microsoft YaHei"/>
              </a:rPr>
              <a:t>src/pipeline.mjs CLI 总线 · 18 个 src 模块：抓取/解析/对齐/高清化/编排/渲染/编码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54480" y="4370832"/>
            <a:ext cx="256032" cy="91440"/>
          </a:xfrm>
          <a:prstGeom prst="rect">
            <a:avLst/>
          </a:prstGeom>
          <a:solidFill>
            <a:srgbClr val="FF9F43"/>
          </a:solidFill>
          <a:ln w="9525">
            <a:solidFill>
              <a:srgbClr val="FF9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223760" y="4370832"/>
            <a:ext cx="256032" cy="91440"/>
          </a:xfrm>
          <a:prstGeom prst="rect">
            <a:avLst/>
          </a:prstGeom>
          <a:solidFill>
            <a:srgbClr val="FF9F43"/>
          </a:solidFill>
          <a:ln w="9525">
            <a:solidFill>
              <a:srgbClr val="FF9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080" y="4480560"/>
            <a:ext cx="2148840" cy="713232"/>
          </a:xfrm>
          <a:prstGeom prst="roundRect">
            <a:avLst/>
          </a:prstGeom>
          <a:solidFill>
            <a:srgbClr val="161D2B"/>
          </a:solidFill>
          <a:ln w="9525">
            <a:solidFill>
              <a:srgbClr val="409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480560"/>
            <a:ext cx="2148840" cy="7132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12000"/>
              </a:lnSpc>
            </a:pPr>
            <a:r>
              <a:rPr sz="1450" b="1">
                <a:solidFill>
                  <a:srgbClr val="4094FF"/>
                </a:solidFill>
                <a:latin typeface="Microsoft YaHei"/>
                <a:ea typeface="Microsoft YaHei"/>
              </a:rPr>
              <a:t>渲染层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26080" y="4480560"/>
            <a:ext cx="8686800" cy="713232"/>
          </a:xfrm>
          <a:prstGeom prst="roundRect">
            <a:avLst/>
          </a:prstGeom>
          <a:solidFill>
            <a:srgbClr val="1A2130"/>
          </a:solidFill>
          <a:ln w="9525">
            <a:solidFill>
              <a:srgbClr val="2A3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08960" y="4480560"/>
            <a:ext cx="8366760" cy="7132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B8C2D4"/>
                </a:solidFill>
                <a:latin typeface="Microsoft YaHei"/>
                <a:ea typeface="Microsoft YaHei"/>
              </a:rPr>
              <a:t>无头 Chrome（CDP WebSocket 驱动）· render/index.html 内嵌 Spine Web Player 3.8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54480" y="5193792"/>
            <a:ext cx="256032" cy="91440"/>
          </a:xfrm>
          <a:prstGeom prst="rect">
            <a:avLst/>
          </a:prstGeom>
          <a:solidFill>
            <a:srgbClr val="4094FF"/>
          </a:solidFill>
          <a:ln w="9525">
            <a:solidFill>
              <a:srgbClr val="409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223760" y="5193792"/>
            <a:ext cx="256032" cy="91440"/>
          </a:xfrm>
          <a:prstGeom prst="rect">
            <a:avLst/>
          </a:prstGeom>
          <a:solidFill>
            <a:srgbClr val="4094FF"/>
          </a:solidFill>
          <a:ln w="9525">
            <a:solidFill>
              <a:srgbClr val="409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0080" y="5303520"/>
            <a:ext cx="2148840" cy="713232"/>
          </a:xfrm>
          <a:prstGeom prst="roundRect">
            <a:avLst/>
          </a:prstGeom>
          <a:solidFill>
            <a:srgbClr val="161D2B"/>
          </a:solidFill>
          <a:ln w="9525">
            <a:solidFill>
              <a:srgbClr val="00C8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303520"/>
            <a:ext cx="2148840" cy="7132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12000"/>
              </a:lnSpc>
            </a:pPr>
            <a:r>
              <a:rPr sz="1450" b="1">
                <a:solidFill>
                  <a:srgbClr val="00C882"/>
                </a:solidFill>
                <a:latin typeface="Microsoft YaHei"/>
                <a:ea typeface="Microsoft YaHei"/>
              </a:rPr>
              <a:t>编码与导出层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926080" y="5303520"/>
            <a:ext cx="8686800" cy="713232"/>
          </a:xfrm>
          <a:prstGeom prst="roundRect">
            <a:avLst/>
          </a:prstGeom>
          <a:solidFill>
            <a:srgbClr val="1A2130"/>
          </a:solidFill>
          <a:ln w="9525">
            <a:solidFill>
              <a:srgbClr val="2A3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08960" y="5303520"/>
            <a:ext cx="8366760" cy="7132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B8C2D4"/>
                </a:solidFill>
                <a:latin typeface="Microsoft YaHei"/>
                <a:ea typeface="Microsoft YaHei"/>
              </a:rPr>
              <a:t>自研 GIF89a（median-cut+LZW）· PNG 编解码 · FFmpeg MP4 · 全链路流式内存安全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54480" y="6016752"/>
            <a:ext cx="256032" cy="91440"/>
          </a:xfrm>
          <a:prstGeom prst="rect">
            <a:avLst/>
          </a:prstGeom>
          <a:solidFill>
            <a:srgbClr val="00C882"/>
          </a:solidFill>
          <a:ln w="9525">
            <a:solidFill>
              <a:srgbClr val="00C8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223760" y="6016752"/>
            <a:ext cx="256032" cy="91440"/>
          </a:xfrm>
          <a:prstGeom prst="rect">
            <a:avLst/>
          </a:prstGeom>
          <a:solidFill>
            <a:srgbClr val="00C882"/>
          </a:solidFill>
          <a:ln w="9525">
            <a:solidFill>
              <a:srgbClr val="00C8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40080" y="6126480"/>
            <a:ext cx="2148840" cy="713232"/>
          </a:xfrm>
          <a:prstGeom prst="roundRect">
            <a:avLst/>
          </a:prstGeom>
          <a:solidFill>
            <a:srgbClr val="161D2B"/>
          </a:solidFill>
          <a:ln w="9525">
            <a:solidFill>
              <a:srgbClr val="FF5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6126480"/>
            <a:ext cx="2148840" cy="7132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12000"/>
              </a:lnSpc>
            </a:pPr>
            <a:r>
              <a:rPr sz="1450" b="1">
                <a:solidFill>
                  <a:srgbClr val="FF5C7A"/>
                </a:solidFill>
                <a:latin typeface="Microsoft YaHei"/>
                <a:ea typeface="Microsoft YaHei"/>
              </a:rPr>
              <a:t>数据层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926080" y="6126480"/>
            <a:ext cx="8686800" cy="713232"/>
          </a:xfrm>
          <a:prstGeom prst="roundRect">
            <a:avLst/>
          </a:prstGeom>
          <a:solidFill>
            <a:srgbClr val="1A2130"/>
          </a:solidFill>
          <a:ln w="9525">
            <a:solidFill>
              <a:srgbClr val="2A3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08960" y="6126480"/>
            <a:ext cx="8366760" cy="7132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B8C2D4"/>
                </a:solidFill>
                <a:latin typeface="Microsoft YaHei"/>
                <a:ea typeface="Microsoft YaHei"/>
              </a:rPr>
              <a:t>assets/ 模型库（PRTS 目录逻辑）· out/ 输出 · config.json（Key 本地保存）· 本地动作字典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01622"/>
          </a:solidFill>
          <a:ln w="9525">
            <a:solidFill>
              <a:srgbClr val="0B0E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37744"/>
            <a:ext cx="82296" cy="475488"/>
          </a:xfrm>
          <a:prstGeom prst="rect">
            <a:avLst/>
          </a:prstGeom>
          <a:solidFill>
            <a:srgbClr val="4094FF"/>
          </a:solidFill>
          <a:ln w="9525">
            <a:solidFill>
              <a:srgbClr val="409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46304"/>
            <a:ext cx="10241280" cy="5669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F2F5FA"/>
                </a:solidFill>
                <a:latin typeface="Microsoft YaHei"/>
                <a:ea typeface="Microsoft YaHei"/>
              </a:rPr>
              <a:t>四步主流程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105156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8A96AC"/>
                </a:solidFill>
                <a:latin typeface="Microsoft YaHei"/>
                <a:ea typeface="Microsoft YaHei"/>
              </a:rPr>
              <a:t>① 拉取模型 → ② 高清化（可选）→ ③ 编排时间轴 → ④ 生成动画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7772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1">
                <a:solidFill>
                  <a:srgbClr val="8A96AC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2697480" cy="548640"/>
          </a:xfrm>
          <a:prstGeom prst="roundRect">
            <a:avLst/>
          </a:prstGeom>
          <a:solidFill>
            <a:srgbClr val="161D2B"/>
          </a:solidFill>
          <a:ln w="9525">
            <a:solidFill>
              <a:srgbClr val="409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2697480" cy="5486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>
                <a:solidFill>
                  <a:srgbClr val="4094FF"/>
                </a:solidFill>
                <a:latin typeface="Microsoft YaHei"/>
                <a:ea typeface="Microsoft YaHei"/>
              </a:rPr>
              <a:t>① 拉取模型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2697480" cy="4480560"/>
          </a:xfrm>
          <a:prstGeom prst="roundRect">
            <a:avLst/>
          </a:prstGeom>
          <a:solidFill>
            <a:srgbClr val="1A2130"/>
          </a:solidFill>
          <a:ln w="9525">
            <a:solidFill>
              <a:srgbClr val="2A3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2423160" cy="4206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B8C2D4"/>
                </a:solidFill>
                <a:latin typeface="Microsoft YaHei"/>
                <a:ea typeface="Microsoft YaHei"/>
              </a:rPr>
              <a:t>· 输入名称/ID → 解析（PRTS 逆向）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B8C2D4"/>
                </a:solidFill>
                <a:latin typeface="Microsoft YaHei"/>
                <a:ea typeface="Microsoft YaHei"/>
              </a:rPr>
              <a:t>· 选皮肤/视图（可勾“全部视图”）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B8C2D4"/>
                </a:solidFill>
                <a:latin typeface="Microsoft YaHei"/>
                <a:ea typeface="Microsoft YaHei"/>
              </a:rPr>
              <a:t>· 下载 .skel/.atlas/.png 三件套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B8C2D4"/>
                </a:solidFill>
                <a:latin typeface="Microsoft YaHei"/>
                <a:ea typeface="Microsoft YaHei"/>
              </a:rPr>
              <a:t>· 本地模型库：PRTS 目录逻辑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B8C2D4"/>
                </a:solidFill>
                <a:latin typeface="Microsoft YaHei"/>
                <a:ea typeface="Microsoft YaHei"/>
              </a:rPr>
              <a:t>· 按职业/稀有度/阵营筛选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5848" y="1234440"/>
            <a:ext cx="2697480" cy="548640"/>
          </a:xfrm>
          <a:prstGeom prst="roundRect">
            <a:avLst/>
          </a:prstGeom>
          <a:solidFill>
            <a:srgbClr val="161D2B"/>
          </a:solidFill>
          <a:ln w="9525">
            <a:solidFill>
              <a:srgbClr val="00C8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5848" y="1234440"/>
            <a:ext cx="2697480" cy="5486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>
                <a:solidFill>
                  <a:srgbClr val="00C882"/>
                </a:solidFill>
                <a:latin typeface="Microsoft YaHei"/>
                <a:ea typeface="Microsoft YaHei"/>
              </a:rPr>
              <a:t>② 高清化（可选）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5848" y="1874519"/>
            <a:ext cx="2697480" cy="4480560"/>
          </a:xfrm>
          <a:prstGeom prst="roundRect">
            <a:avLst/>
          </a:prstGeom>
          <a:solidFill>
            <a:srgbClr val="1A2130"/>
          </a:solidFill>
          <a:ln w="9525">
            <a:solidFill>
              <a:srgbClr val="2A3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3008" y="2057400"/>
            <a:ext cx="2423160" cy="4206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B8C2D4"/>
                </a:solidFill>
                <a:latin typeface="Microsoft YaHei"/>
                <a:ea typeface="Microsoft YaHei"/>
              </a:rPr>
              <a:t>· 4 方案对比图先行（原图/Lanczos/ESRGAN/Waifu2x）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B8C2D4"/>
                </a:solidFill>
                <a:latin typeface="Microsoft YaHei"/>
                <a:ea typeface="Microsoft YaHei"/>
              </a:rPr>
              <a:t>· 用户点选满意方案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B8C2D4"/>
                </a:solidFill>
                <a:latin typeface="Microsoft YaHei"/>
                <a:ea typeface="Microsoft YaHei"/>
              </a:rPr>
              <a:t>· atlas+PNG 同步放大，不破坏坐标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B8C2D4"/>
                </a:solidFill>
                <a:latin typeface="Microsoft YaHei"/>
                <a:ea typeface="Microsoft YaHei"/>
              </a:rPr>
              <a:t>· 可勾 AI 超分引擎（Vulkan）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B8C2D4"/>
                </a:solidFill>
                <a:latin typeface="Microsoft YaHei"/>
                <a:ea typeface="Microsoft YaHei"/>
              </a:rPr>
              <a:t>· 成果入 out/hi/，原图永不覆盖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1234440"/>
            <a:ext cx="2697480" cy="548640"/>
          </a:xfrm>
          <a:prstGeom prst="roundRect">
            <a:avLst/>
          </a:prstGeom>
          <a:solidFill>
            <a:srgbClr val="161D2B"/>
          </a:solidFill>
          <a:ln w="9525">
            <a:solidFill>
              <a:srgbClr val="B47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8776" y="1234440"/>
            <a:ext cx="2697480" cy="5486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>
                <a:solidFill>
                  <a:srgbClr val="B478FF"/>
                </a:solidFill>
                <a:latin typeface="Microsoft YaHei"/>
                <a:ea typeface="Microsoft YaHei"/>
              </a:rPr>
              <a:t>③ 编排时间轴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1874519"/>
            <a:ext cx="2697480" cy="4480560"/>
          </a:xfrm>
          <a:prstGeom prst="roundRect">
            <a:avLst/>
          </a:prstGeom>
          <a:solidFill>
            <a:srgbClr val="1A2130"/>
          </a:solidFill>
          <a:ln w="9525">
            <a:solidFill>
              <a:srgbClr val="2A3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2057400"/>
            <a:ext cx="2423160" cy="4206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B8C2D4"/>
                </a:solidFill>
                <a:latin typeface="Microsoft YaHei"/>
                <a:ea typeface="Microsoft YaHei"/>
              </a:rPr>
              <a:t>· 生成动作预览（GIF/单帧）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B8C2D4"/>
                </a:solidFill>
                <a:latin typeface="Microsoft YaHei"/>
                <a:ea typeface="Microsoft YaHei"/>
              </a:rPr>
              <a:t>· AI 自动打标（规则/千问视觉）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B8C2D4"/>
                </a:solidFill>
                <a:latin typeface="Microsoft YaHei"/>
                <a:ea typeface="Microsoft YaHei"/>
              </a:rPr>
              <a:t>· 自然语言 → DeepSeek 排轴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B8C2D4"/>
                </a:solidFill>
                <a:latin typeface="Microsoft YaHei"/>
                <a:ea typeface="Microsoft YaHei"/>
              </a:rPr>
              <a:t>· 或手动点“＋”排布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B8C2D4"/>
                </a:solidFill>
                <a:latin typeface="Microsoft YaHei"/>
                <a:ea typeface="Microsoft YaHei"/>
              </a:rPr>
              <a:t>· PR 式色块：时长/循环/倍速/次数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61704" y="1234440"/>
            <a:ext cx="2697480" cy="548640"/>
          </a:xfrm>
          <a:prstGeom prst="roundRect">
            <a:avLst/>
          </a:prstGeom>
          <a:solidFill>
            <a:srgbClr val="161D2B"/>
          </a:solidFill>
          <a:ln w="9525">
            <a:solidFill>
              <a:srgbClr val="FF9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61704" y="1234440"/>
            <a:ext cx="2697480" cy="5486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>
                <a:solidFill>
                  <a:srgbClr val="FF9F43"/>
                </a:solidFill>
                <a:latin typeface="Microsoft YaHei"/>
                <a:ea typeface="Microsoft YaHei"/>
              </a:rPr>
              <a:t>④ 生成动画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61704" y="1874519"/>
            <a:ext cx="2697480" cy="4480560"/>
          </a:xfrm>
          <a:prstGeom prst="roundRect">
            <a:avLst/>
          </a:prstGeom>
          <a:solidFill>
            <a:srgbClr val="1A2130"/>
          </a:solidFill>
          <a:ln w="9525">
            <a:solidFill>
              <a:srgbClr val="2A3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8864" y="2057400"/>
            <a:ext cx="2423160" cy="4206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B8C2D4"/>
                </a:solidFill>
                <a:latin typeface="Microsoft YaHei"/>
                <a:ea typeface="Microsoft YaHei"/>
              </a:rPr>
              <a:t>· 确认资源与时间轴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B8C2D4"/>
                </a:solidFill>
                <a:latin typeface="Microsoft YaHei"/>
                <a:ea typeface="Microsoft YaHei"/>
              </a:rPr>
              <a:t>· 渲染参数：fps/画布/格式/背景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B8C2D4"/>
                </a:solidFill>
                <a:latin typeface="Microsoft YaHei"/>
                <a:ea typeface="Microsoft YaHei"/>
              </a:rPr>
              <a:t>· 无头 Chrome 逐帧捕获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B8C2D4"/>
                </a:solidFill>
                <a:latin typeface="Microsoft YaHei"/>
                <a:ea typeface="Microsoft YaHei"/>
              </a:rPr>
              <a:t>· GIF（自研编码器）/ MP4（FFmpeg）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B8C2D4"/>
                </a:solidFill>
                <a:latin typeface="Microsoft YaHei"/>
                <a:ea typeface="Microsoft YaHei"/>
              </a:rPr>
              <a:t>· 结果卡：预览/放大/打开文件夹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6446520"/>
            <a:ext cx="11201400" cy="292608"/>
          </a:xfrm>
          <a:prstGeom prst="roundRect">
            <a:avLst/>
          </a:prstGeom>
          <a:solidFill>
            <a:srgbClr val="161D2B"/>
          </a:solidFill>
          <a:ln w="9525">
            <a:solidFill>
              <a:srgbClr val="2A3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11201400" cy="29260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>
                <a:solidFill>
                  <a:srgbClr val="8A96AC"/>
                </a:solidFill>
                <a:latin typeface="Microsoft YaHei"/>
                <a:ea typeface="Microsoft YaHei"/>
              </a:rPr>
              <a:t>每一步都可在 UI 上“跳过”或“返回”，任务串行执行、进度实时推送（SSE），失败自动解锁按钮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01622"/>
          </a:solidFill>
          <a:ln w="9525">
            <a:solidFill>
              <a:srgbClr val="0B0E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37744"/>
            <a:ext cx="82296" cy="475488"/>
          </a:xfrm>
          <a:prstGeom prst="rect">
            <a:avLst/>
          </a:prstGeom>
          <a:solidFill>
            <a:srgbClr val="4094FF"/>
          </a:solidFill>
          <a:ln w="9525">
            <a:solidFill>
              <a:srgbClr val="409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46304"/>
            <a:ext cx="10241280" cy="5669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F2F5FA"/>
                </a:solidFill>
                <a:latin typeface="Microsoft YaHei"/>
                <a:ea typeface="Microsoft YaHei"/>
              </a:rPr>
              <a:t>技术栈全景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105156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8A96AC"/>
                </a:solidFill>
                <a:latin typeface="Microsoft YaHei"/>
                <a:ea typeface="Microsoft YaHei"/>
              </a:rPr>
              <a:t>零依赖哲学 + 精选外部工具 + 双 AI 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7772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1">
                <a:solidFill>
                  <a:srgbClr val="8A96AC"/>
                </a:solidFill>
                <a:latin typeface="Microsoft YaHei"/>
                <a:ea typeface="Microsoft YaHei"/>
              </a:rPr>
              <a:t>05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188720"/>
          <a:ext cx="11201400" cy="4974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206240"/>
                <a:gridCol w="51663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2F5FA"/>
                          </a:solidFill>
                          <a:latin typeface="Microsoft YaHei"/>
                          <a:ea typeface="Microsoft YaHei"/>
                        </a:rPr>
                        <a:t>层级</a:t>
                      </a:r>
                    </a:p>
                  </a:txBody>
                  <a:tcPr marL="54864" marR="36576" marT="13716" marB="13716" anchor="ctr">
                    <a:solidFill>
                      <a:srgbClr val="409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2F5FA"/>
                          </a:solidFill>
                          <a:latin typeface="Microsoft YaHei"/>
                          <a:ea typeface="Microsoft YaHei"/>
                        </a:rPr>
                        <a:t>选型</a:t>
                      </a:r>
                    </a:p>
                  </a:txBody>
                  <a:tcPr marL="54864" marR="36576" marT="13716" marB="13716" anchor="ctr">
                    <a:solidFill>
                      <a:srgbClr val="409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2F5FA"/>
                          </a:solidFill>
                          <a:latin typeface="Microsoft YaHei"/>
                          <a:ea typeface="Microsoft YaHei"/>
                        </a:rPr>
                        <a:t>说明</a:t>
                      </a:r>
                    </a:p>
                  </a:txBody>
                  <a:tcPr marL="54864" marR="36576" marT="13716" marB="13716" anchor="ctr">
                    <a:solidFill>
                      <a:srgbClr val="4094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运行时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Node.js v18+（ESM）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零 npm 依赖的纯 JS 核心（除 Electron）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桌面壳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Electron 43（可选）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Chrome 窗口模式兜底，Electron 按需安装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浏览器自动化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自研 CDP 客户端（WebSocket）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不用 Puppeteer/Playwright，直连 DevTools 协议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Spine 渲染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官方 spine-player 3.8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明日方舟官方同款运行时，WebGL/SwiftShader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二进制解析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自研 SkeletonBinary 移植（734 行）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字节级移植官方 spine-ts 3.8，零依赖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图像编码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自研 GIF89a + PNG 编解码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median-cut 调色板 + Floyd-Steinberg + LZW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视频编码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FFmpeg（静态版）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流式 rawvideo 管道 → H.264/MP4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AI 超分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Real-ESRGAN / Waifu2x / Real-CUGAN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ncnn-vulkan 便携版，自动下载管理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LLM 编排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DeepSeek V4 Flash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OpenAI 兼容 /chat/completions，纯 fetch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视觉打标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千问 Qwen-VL（DashScope）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OpenAI 兼容端点，看图识别动作语义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数据源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PRTS Wiki（逆向）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SPINEDATA 内嵌解析 + SMW/wikitext 资料补全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实时通信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SSE（Server-Sent Events）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任务状态/日志/结果推送，心跳保活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性能监测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WMI/CIM 查询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进程树 CPU/内存 + GPU 计数器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发布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自研 build-dist.mjs + tar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zip 发布包，API Key 安全闸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01622"/>
          </a:solidFill>
          <a:ln w="9525">
            <a:solidFill>
              <a:srgbClr val="0B0E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37744"/>
            <a:ext cx="82296" cy="475488"/>
          </a:xfrm>
          <a:prstGeom prst="rect">
            <a:avLst/>
          </a:prstGeom>
          <a:solidFill>
            <a:srgbClr val="4094FF"/>
          </a:solidFill>
          <a:ln w="9525">
            <a:solidFill>
              <a:srgbClr val="409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46304"/>
            <a:ext cx="10241280" cy="5669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F2F5FA"/>
                </a:solidFill>
                <a:latin typeface="Microsoft YaHei"/>
                <a:ea typeface="Microsoft YaHei"/>
              </a:rPr>
              <a:t>src/ 核心引擎 · 数据与解析（6/18）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105156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8A96AC"/>
                </a:solidFill>
                <a:latin typeface="Microsoft YaHei"/>
                <a:ea typeface="Microsoft YaHei"/>
              </a:rPr>
              <a:t>约 2,376 行 · 项目的数据根基：抓什么、怎么解析、如何对齐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7772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1">
                <a:solidFill>
                  <a:srgbClr val="8A96AC"/>
                </a:solidFill>
                <a:latin typeface="Microsoft YaHei"/>
                <a:ea typeface="Microsoft YaHei"/>
              </a:rPr>
              <a:t>06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201400" cy="3767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240"/>
                <a:gridCol w="731520"/>
                <a:gridCol w="85496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2F5FA"/>
                          </a:solidFill>
                          <a:latin typeface="Microsoft YaHei"/>
                          <a:ea typeface="Microsoft YaHei"/>
                        </a:rPr>
                        <a:t>文件</a:t>
                      </a:r>
                    </a:p>
                  </a:txBody>
                  <a:tcPr marL="54864" marR="36576" marT="13716" marB="13716" anchor="ctr">
                    <a:solidFill>
                      <a:srgbClr val="409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2F5FA"/>
                          </a:solidFill>
                          <a:latin typeface="Microsoft YaHei"/>
                          <a:ea typeface="Microsoft YaHei"/>
                        </a:rPr>
                        <a:t>行数</a:t>
                      </a:r>
                    </a:p>
                  </a:txBody>
                  <a:tcPr marL="54864" marR="36576" marT="13716" marB="13716" anchor="ctr">
                    <a:solidFill>
                      <a:srgbClr val="409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2F5FA"/>
                          </a:solidFill>
                          <a:latin typeface="Microsoft YaHei"/>
                          <a:ea typeface="Microsoft YaHei"/>
                        </a:rPr>
                        <a:t>职责</a:t>
                      </a:r>
                    </a:p>
                  </a:txBody>
                  <a:tcPr marL="54864" marR="36576" marT="13716" marB="13716" anchor="ctr">
                    <a:solidFill>
                      <a:srgbClr val="4094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pipeline.mjs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548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主流程总线：CLI 子命令注册、四步流水线状态机、任务队列、错误恢复与日志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skel.mjs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734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Spine 3.8 二进制 .skel 解析器（移植官方 spine-ts）：动画/槽位/皮肤/事件字节级解析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prts.mjs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522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PRTS Wiki 逆向抓取器：SPINEDATA 内嵌解析、三件套下载、干员/异格/敌人/皮肤资料解析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download.mjs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207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Ark-Models 镜像源下载器：备用数据源、断点重试、文件完整性校验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info.mjs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273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PRTS 资料补全：星级/职业/阵营/标签/皮肤/视图，构建分层目录索引（models_data.json）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align.mjs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92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atlas 尺寸对齐修复：PNG 实际尺寸与 atlas 声明尺寸校准，从根因解决角色散架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989320"/>
            <a:ext cx="1124712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8A96AC"/>
                </a:solidFill>
                <a:latin typeface="Microsoft YaHei"/>
                <a:ea typeface="Microsoft YaHei"/>
              </a:rPr>
              <a:t>设计要点：数据源与解析器解耦（PRTS / Ark-Models 可插拔）；所有解析结果统一进入本地镜像库，一次爬取、永久复用。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01622"/>
          </a:solidFill>
          <a:ln w="9525">
            <a:solidFill>
              <a:srgbClr val="0B0E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37744"/>
            <a:ext cx="82296" cy="475488"/>
          </a:xfrm>
          <a:prstGeom prst="rect">
            <a:avLst/>
          </a:prstGeom>
          <a:solidFill>
            <a:srgbClr val="4094FF"/>
          </a:solidFill>
          <a:ln w="9525">
            <a:solidFill>
              <a:srgbClr val="409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46304"/>
            <a:ext cx="10241280" cy="5669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F2F5FA"/>
                </a:solidFill>
                <a:latin typeface="Microsoft YaHei"/>
                <a:ea typeface="Microsoft YaHei"/>
              </a:rPr>
              <a:t>src/ 核心引擎 · 渲染与媒体（6/18）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105156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8A96AC"/>
                </a:solidFill>
                <a:latin typeface="Microsoft YaHei"/>
                <a:ea typeface="Microsoft YaHei"/>
              </a:rPr>
              <a:t>约 1,163 行 · 从骨骼动作到 GIF/MP4 的全自研媒体链路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7772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1">
                <a:solidFill>
                  <a:srgbClr val="8A96AC"/>
                </a:solidFill>
                <a:latin typeface="Microsoft YaHei"/>
                <a:ea typeface="Microsoft YaHei"/>
              </a:rPr>
              <a:t>07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201400" cy="3767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240"/>
                <a:gridCol w="731520"/>
                <a:gridCol w="85496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2F5FA"/>
                          </a:solidFill>
                          <a:latin typeface="Microsoft YaHei"/>
                          <a:ea typeface="Microsoft YaHei"/>
                        </a:rPr>
                        <a:t>文件</a:t>
                      </a:r>
                    </a:p>
                  </a:txBody>
                  <a:tcPr marL="54864" marR="36576" marT="13716" marB="13716" anchor="ctr">
                    <a:solidFill>
                      <a:srgbClr val="409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2F5FA"/>
                          </a:solidFill>
                          <a:latin typeface="Microsoft YaHei"/>
                          <a:ea typeface="Microsoft YaHei"/>
                        </a:rPr>
                        <a:t>行数</a:t>
                      </a:r>
                    </a:p>
                  </a:txBody>
                  <a:tcPr marL="54864" marR="36576" marT="13716" marB="13716" anchor="ctr">
                    <a:solidFill>
                      <a:srgbClr val="409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2F5FA"/>
                          </a:solidFill>
                          <a:latin typeface="Microsoft YaHei"/>
                          <a:ea typeface="Microsoft YaHei"/>
                        </a:rPr>
                        <a:t>职责</a:t>
                      </a:r>
                    </a:p>
                  </a:txBody>
                  <a:tcPr marL="54864" marR="36576" marT="13716" marB="13716" anchor="ctr">
                    <a:solidFill>
                      <a:srgbClr val="4094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cdp.mjs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271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无头 Chrome CDP 客户端：启动/导航/窗口管理/逐帧截图，生命周期自愈（防超时）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render.mjs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111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流式渲染器：按 Timeline JSON 驱动动画，帧捕获即送编码器，进度实时回调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preview.mjs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172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动作预览生成：单帧/关键帧拼接/完整动画 GIF 三种模式，供打标与预览使用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gif.mjs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265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纯 JS GIF89a 编码器：median-cut 调色板 + Floyd-Steinberg 抖动 + LZW，支持透明通道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png.mjs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155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纯 JS PNG 编解码：RGBA 读写、滤波、压缩，与 GIF 编码器共用帧数据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ffmpeg.mjs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189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FFmpeg 流式封装：rawvideo 管道 → H.264/MP4，自动探测系统或静态版二进制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989320"/>
            <a:ext cx="1124712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8A96AC"/>
                </a:solidFill>
                <a:latin typeface="Microsoft YaHei"/>
                <a:ea typeface="Microsoft YaHei"/>
              </a:rPr>
              <a:t>设计要点：流式管道架构——帧不过内存堆，渲染 300 帧 5 秒动画峰值占用稳定，曾修复 GB 级内存问题。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01622"/>
          </a:solidFill>
          <a:ln w="9525">
            <a:solidFill>
              <a:srgbClr val="0B0E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37744"/>
            <a:ext cx="82296" cy="475488"/>
          </a:xfrm>
          <a:prstGeom prst="rect">
            <a:avLst/>
          </a:prstGeom>
          <a:solidFill>
            <a:srgbClr val="4094FF"/>
          </a:solidFill>
          <a:ln w="9525">
            <a:solidFill>
              <a:srgbClr val="409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46304"/>
            <a:ext cx="10241280" cy="5669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F2F5FA"/>
                </a:solidFill>
                <a:latin typeface="Microsoft YaHei"/>
                <a:ea typeface="Microsoft YaHei"/>
              </a:rPr>
              <a:t>src/ 核心引擎 · AI 与工具（6/18）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105156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8A96AC"/>
                </a:solidFill>
                <a:latin typeface="Microsoft YaHei"/>
                <a:ea typeface="Microsoft YaHei"/>
              </a:rPr>
              <a:t>约 1,419 行 · 高清化、AI 编排、动作打标、性能监测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7772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1">
                <a:solidFill>
                  <a:srgbClr val="8A96AC"/>
                </a:solidFill>
                <a:latin typeface="Microsoft YaHei"/>
                <a:ea typeface="Microsoft YaHei"/>
              </a:rPr>
              <a:t>08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201400" cy="3767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240"/>
                <a:gridCol w="731520"/>
                <a:gridCol w="85496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2F5FA"/>
                          </a:solidFill>
                          <a:latin typeface="Microsoft YaHei"/>
                          <a:ea typeface="Microsoft YaHei"/>
                        </a:rPr>
                        <a:t>文件</a:t>
                      </a:r>
                    </a:p>
                  </a:txBody>
                  <a:tcPr marL="54864" marR="36576" marT="13716" marB="13716" anchor="ctr">
                    <a:solidFill>
                      <a:srgbClr val="409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2F5FA"/>
                          </a:solidFill>
                          <a:latin typeface="Microsoft YaHei"/>
                          <a:ea typeface="Microsoft YaHei"/>
                        </a:rPr>
                        <a:t>行数</a:t>
                      </a:r>
                    </a:p>
                  </a:txBody>
                  <a:tcPr marL="54864" marR="36576" marT="13716" marB="13716" anchor="ctr">
                    <a:solidFill>
                      <a:srgbClr val="409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2F5FA"/>
                          </a:solidFill>
                          <a:latin typeface="Microsoft YaHei"/>
                          <a:ea typeface="Microsoft YaHei"/>
                        </a:rPr>
                        <a:t>职责</a:t>
                      </a:r>
                    </a:p>
                  </a:txBody>
                  <a:tcPr marL="54864" marR="36576" marT="13716" marB="13716" anchor="ctr">
                    <a:solidFill>
                      <a:srgbClr val="4094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choreograph.mjs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289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LLM 编排导演：动作字典 → 系统提示词 → 自然语言转 Timeline JSON，严格校验与回退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upscale.mjs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342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atlas + PNG 同步放大：坐标与像素等比缩放、保留缩进格式、Lanczos3 重采样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sr.mjs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353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AI 超分引擎管理：Real-ESRGAN / Waifu2x / Real-CUGAN 自动下载、调用与输出回收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label.mjs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209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动作三层打标：离线正则 → Qwen-VL 视觉识别 → 用户微调，动作词典持久化复用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perf.mjs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172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性能监测：WMI 采样 CPU/内存/GPU 计数器、进程树聚合，推送给状态栏图表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inspector.mjs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54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动作清单快速提取：skel 动画名 + 时长一键导出，供编排与打标使用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989320"/>
            <a:ext cx="1124712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8A96AC"/>
                </a:solidFill>
                <a:latin typeface="Microsoft YaHei"/>
                <a:ea typeface="Microsoft YaHei"/>
              </a:rPr>
              <a:t>设计要点：AI 能力全部抽象为接口（编排/视觉/超分均可插拔），无 Key 时优雅降级为纯离线模式。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01622"/>
          </a:solidFill>
          <a:ln w="9525">
            <a:solidFill>
              <a:srgbClr val="0B0E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37744"/>
            <a:ext cx="82296" cy="475488"/>
          </a:xfrm>
          <a:prstGeom prst="rect">
            <a:avLst/>
          </a:prstGeom>
          <a:solidFill>
            <a:srgbClr val="4094FF"/>
          </a:solidFill>
          <a:ln w="9525">
            <a:solidFill>
              <a:srgbClr val="409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46304"/>
            <a:ext cx="10241280" cy="5669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F2F5FA"/>
                </a:solidFill>
                <a:latin typeface="Microsoft YaHei"/>
                <a:ea typeface="Microsoft YaHei"/>
              </a:rPr>
              <a:t>桌面应用层 desktop/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105156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8A96AC"/>
                </a:solidFill>
                <a:latin typeface="Microsoft YaHei"/>
                <a:ea typeface="Microsoft YaHei"/>
              </a:rPr>
              <a:t>Electron 壳 + 本地 HTTP 服务 + 原生三件套 UI（约 3,900 行）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7772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1">
                <a:solidFill>
                  <a:srgbClr val="8A96AC"/>
                </a:solidFill>
                <a:latin typeface="Microsoft YaHei"/>
                <a:ea typeface="Microsoft YaHei"/>
              </a:rPr>
              <a:t>09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201400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731520"/>
                <a:gridCol w="82753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2F5FA"/>
                          </a:solidFill>
                          <a:latin typeface="Microsoft YaHei"/>
                          <a:ea typeface="Microsoft YaHei"/>
                        </a:rPr>
                        <a:t>文件</a:t>
                      </a:r>
                    </a:p>
                  </a:txBody>
                  <a:tcPr marL="54864" marR="36576" marT="13716" marB="13716" anchor="ctr">
                    <a:solidFill>
                      <a:srgbClr val="409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2F5FA"/>
                          </a:solidFill>
                          <a:latin typeface="Microsoft YaHei"/>
                          <a:ea typeface="Microsoft YaHei"/>
                        </a:rPr>
                        <a:t>行数</a:t>
                      </a:r>
                    </a:p>
                  </a:txBody>
                  <a:tcPr marL="54864" marR="36576" marT="13716" marB="13716" anchor="ctr">
                    <a:solidFill>
                      <a:srgbClr val="409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2F5FA"/>
                          </a:solidFill>
                          <a:latin typeface="Microsoft YaHei"/>
                          <a:ea typeface="Microsoft YaHei"/>
                        </a:rPr>
                        <a:t>职责</a:t>
                      </a:r>
                    </a:p>
                  </a:txBody>
                  <a:tcPr marL="54864" marR="36576" marT="13716" marB="13716" anchor="ctr">
                    <a:solidFill>
                      <a:srgbClr val="4094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server.mjs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1049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本地 HTTP + SSE 服务：静态资源、任务串行队列、事件推送、API Key 环境注入、结果管理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ui/app.js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1680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前端单页应用：四步向导、PRTS 式模型库、高清化对比、时间轴编辑器、设置、性能面板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ui/index.html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337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应用 DOM 骨架：布局结构、模板容器、图标与入口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ui/style.css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625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暗黑玻璃拟态主题：CSS 变量、网格布局、卡片、动效与响应式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electron-main.cjs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91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Electron 主进程：创建窗口、安全策略、单实例、最小权限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electron-preload.cjs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7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预加载桥：仅暴露必要的本地 API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wait-ready.mjs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13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等待本地服务就绪后再打开窗口，避免白屏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package.json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桌面端依赖清单：electron + 本地服务启动脚本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989320"/>
            <a:ext cx="1124712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8A96AC"/>
                </a:solidFill>
                <a:latin typeface="Microsoft YaHei"/>
                <a:ea typeface="Microsoft YaHei"/>
              </a:rPr>
              <a:t>设计要点：UI 为纯原生 JS 无框架，SSE 实时推送日志/进度/结果，浏览器与 Electron 双端可开。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01622"/>
          </a:solidFill>
          <a:ln w="9525">
            <a:solidFill>
              <a:srgbClr val="0B0E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37744"/>
            <a:ext cx="82296" cy="475488"/>
          </a:xfrm>
          <a:prstGeom prst="rect">
            <a:avLst/>
          </a:prstGeom>
          <a:solidFill>
            <a:srgbClr val="4094FF"/>
          </a:solidFill>
          <a:ln w="9525">
            <a:solidFill>
              <a:srgbClr val="409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46304"/>
            <a:ext cx="10241280" cy="5669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F2F5FA"/>
                </a:solidFill>
                <a:latin typeface="Microsoft YaHei"/>
                <a:ea typeface="Microsoft YaHei"/>
              </a:rPr>
              <a:t>渲染页与构建脚本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105156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8A96AC"/>
                </a:solidFill>
                <a:latin typeface="Microsoft YaHei"/>
                <a:ea typeface="Microsoft YaHei"/>
              </a:rPr>
              <a:t>Spine Web Player 渲染页 + 工具脚本 + 一键启动/打包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7772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1">
                <a:solidFill>
                  <a:srgbClr val="8A96AC"/>
                </a:solidFill>
                <a:latin typeface="Microsoft YaHei"/>
                <a:ea typeface="Microsoft YaHei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201400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731520"/>
                <a:gridCol w="82753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2F5FA"/>
                          </a:solidFill>
                          <a:latin typeface="Microsoft YaHei"/>
                          <a:ea typeface="Microsoft YaHei"/>
                        </a:rPr>
                        <a:t>文件</a:t>
                      </a:r>
                    </a:p>
                  </a:txBody>
                  <a:tcPr marL="54864" marR="36576" marT="13716" marB="13716" anchor="ctr">
                    <a:solidFill>
                      <a:srgbClr val="409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2F5FA"/>
                          </a:solidFill>
                          <a:latin typeface="Microsoft YaHei"/>
                          <a:ea typeface="Microsoft YaHei"/>
                        </a:rPr>
                        <a:t>行数</a:t>
                      </a:r>
                    </a:p>
                  </a:txBody>
                  <a:tcPr marL="54864" marR="36576" marT="13716" marB="13716" anchor="ctr">
                    <a:solidFill>
                      <a:srgbClr val="409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2F5FA"/>
                          </a:solidFill>
                          <a:latin typeface="Microsoft YaHei"/>
                          <a:ea typeface="Microsoft YaHei"/>
                        </a:rPr>
                        <a:t>职责</a:t>
                      </a:r>
                    </a:p>
                  </a:txBody>
                  <a:tcPr marL="54864" marR="36576" marT="13716" marB="13716" anchor="ctr">
                    <a:solidFill>
                      <a:srgbClr val="4094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render/index.html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275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Spine Web Player 3.8 渲染页：.skel 二进制加载、Timeline 驱动、透明背景、逐帧回调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scripts/fetch-vendor.mjs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44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拉取 spine-player 官方发行版到 vendor/，版本锁定 3.8 保证兼容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scripts/make-compare.mjs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346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四宫格对比图：原图/高清化 × 放大区域 2×2 拼图，含旋转矫正与标注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build-dist.mjs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139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发布包构建：zip 打包 + API Key 安全闸（检测到硬编码 Key 立即失败）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start-desktop.cmd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8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Windows 一键启动桌面版（含服务自检）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install-desktop.cmd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8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一键安装依赖并准备 vendor 资源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README.md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334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完整使用文档：安装、四步流程、配置、FAQ、安全说明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989320"/>
            <a:ext cx="1124712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8A96AC"/>
                </a:solidFill>
                <a:latin typeface="Microsoft YaHei"/>
                <a:ea typeface="Microsoft YaHei"/>
              </a:rPr>
              <a:t>设计要点：渲染页与核心引擎完全解耦，支持直接传 URL 参数调试；构建脚本内置安全闸，防止 API Key 泄露进发布包。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01622"/>
          </a:solidFill>
          <a:ln w="9525">
            <a:solidFill>
              <a:srgbClr val="0B0E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37744"/>
            <a:ext cx="82296" cy="475488"/>
          </a:xfrm>
          <a:prstGeom prst="rect">
            <a:avLst/>
          </a:prstGeom>
          <a:solidFill>
            <a:srgbClr val="4094FF"/>
          </a:solidFill>
          <a:ln w="9525">
            <a:solidFill>
              <a:srgbClr val="409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46304"/>
            <a:ext cx="10241280" cy="5669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F2F5FA"/>
                </a:solidFill>
                <a:latin typeface="Microsoft YaHei"/>
                <a:ea typeface="Microsoft YaHei"/>
              </a:rPr>
              <a:t>测试层与数据资源层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105156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8A96AC"/>
                </a:solidFill>
                <a:latin typeface="Microsoft YaHei"/>
                <a:ea typeface="Microsoft YaHei"/>
              </a:rPr>
              <a:t>15 个测试文件交叉验证 + PRTS 全量数据索引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7772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1">
                <a:solidFill>
                  <a:srgbClr val="8A96AC"/>
                </a:solidFill>
                <a:latin typeface="Microsoft YaHei"/>
                <a:ea typeface="Microsoft YaHei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188720"/>
          <a:ext cx="11201400" cy="46451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4892040"/>
                <a:gridCol w="49377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2F5FA"/>
                          </a:solidFill>
                          <a:latin typeface="Microsoft YaHei"/>
                          <a:ea typeface="Microsoft YaHei"/>
                        </a:rPr>
                        <a:t>类别</a:t>
                      </a:r>
                    </a:p>
                  </a:txBody>
                  <a:tcPr marL="54864" marR="36576" marT="13716" marB="13716" anchor="ctr">
                    <a:solidFill>
                      <a:srgbClr val="409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2F5FA"/>
                          </a:solidFill>
                          <a:latin typeface="Microsoft YaHei"/>
                          <a:ea typeface="Microsoft YaHei"/>
                        </a:rPr>
                        <a:t>文件</a:t>
                      </a:r>
                    </a:p>
                  </a:txBody>
                  <a:tcPr marL="54864" marR="36576" marT="13716" marB="13716" anchor="ctr">
                    <a:solidFill>
                      <a:srgbClr val="409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2F5FA"/>
                          </a:solidFill>
                          <a:latin typeface="Microsoft YaHei"/>
                          <a:ea typeface="Microsoft YaHei"/>
                        </a:rPr>
                        <a:t>验证内容</a:t>
                      </a:r>
                    </a:p>
                  </a:txBody>
                  <a:tcPr marL="54864" marR="36576" marT="13716" marB="13716" anchor="ctr">
                    <a:solidFill>
                      <a:srgbClr val="4094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解析回归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skel-roundtrip.mjs (377)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.skel 解析往返：动画/槽位/骨架与二进制逐字节一致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编解码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codecs.mjs (177) / gif-transparency.mjs (137)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PNG/GIF 编解码正确性、透明通道与调色板验证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交叉验证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gif-gdi.mjs + gif-gdi.ps1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调用系统 GDI+ 解码 GIF 与自研编码器比对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对齐修复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align.mjs / verify-align.mjs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atlas 尺寸对齐修复逻辑与回归（防散架）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放大映射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upscale.mjs / xcheck-fixture.mjs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放大后坐标↔像素映射、夹具跨模块一致性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抓取回归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prts.mjs (132) / compare.mjs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PRTS SPINEDATA 解析、四宫格脚本正确性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打包与UI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zip.mjs (118) / desktop-ui.mjs / check-window.mjs (68)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打包往返、UI 四步冒烟、窗口/服务就绪探测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数据资源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assets/models_data.json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25,243 行 / 893KB：干员+敌人全量索引（星级/职业/阵营/皮肤/视图）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数据资源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assets/enemy-index.json (135KB) / assets/&lt;char_id&gt;/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敌人分层索引；每角色原图+高清图双工作区与动作词典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989320"/>
            <a:ext cx="1124712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8A96AC"/>
                </a:solidFill>
                <a:latin typeface="Microsoft YaHei"/>
                <a:ea typeface="Microsoft YaHei"/>
              </a:rPr>
              <a:t>设计要点：所有高风险逻辑（解析/编码/对齐）均有自动化测试；产物 out/ 集中管理 GIF/MP4/帧/时间轴 JSON。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01622"/>
          </a:solidFill>
          <a:ln w="9525">
            <a:solidFill>
              <a:srgbClr val="0B0E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37744"/>
            <a:ext cx="82296" cy="475488"/>
          </a:xfrm>
          <a:prstGeom prst="rect">
            <a:avLst/>
          </a:prstGeom>
          <a:solidFill>
            <a:srgbClr val="4094FF"/>
          </a:solidFill>
          <a:ln w="9525">
            <a:solidFill>
              <a:srgbClr val="409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46304"/>
            <a:ext cx="10241280" cy="5669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F2F5FA"/>
                </a:solidFill>
                <a:latin typeface="Microsoft YaHei"/>
                <a:ea typeface="Microsoft YaHei"/>
              </a:rPr>
              <a:t>开发难度评估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105156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8A96AC"/>
                </a:solidFill>
                <a:latin typeface="Microsoft YaHei"/>
                <a:ea typeface="Microsoft YaHei"/>
              </a:rPr>
              <a:t>单人全栈视角：预估 38~61 人天（6~10 周）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7772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1">
                <a:solidFill>
                  <a:srgbClr val="8A96AC"/>
                </a:solidFill>
                <a:latin typeface="Microsoft YaHei"/>
                <a:ea typeface="Microsoft YaHei"/>
              </a:rP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188720"/>
          <a:ext cx="11201400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1005840"/>
                <a:gridCol w="5669280"/>
                <a:gridCol w="24231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2F5FA"/>
                          </a:solidFill>
                          <a:latin typeface="Microsoft YaHei"/>
                          <a:ea typeface="Microsoft YaHei"/>
                        </a:rPr>
                        <a:t>领域</a:t>
                      </a:r>
                    </a:p>
                  </a:txBody>
                  <a:tcPr marL="54864" marR="36576" marT="13716" marB="13716" anchor="ctr">
                    <a:solidFill>
                      <a:srgbClr val="409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2F5FA"/>
                          </a:solidFill>
                          <a:latin typeface="Microsoft YaHei"/>
                          <a:ea typeface="Microsoft YaHei"/>
                        </a:rPr>
                        <a:t>难度</a:t>
                      </a:r>
                    </a:p>
                  </a:txBody>
                  <a:tcPr marL="54864" marR="36576" marT="13716" marB="13716" anchor="ctr">
                    <a:solidFill>
                      <a:srgbClr val="409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2F5FA"/>
                          </a:solidFill>
                          <a:latin typeface="Microsoft YaHei"/>
                          <a:ea typeface="Microsoft YaHei"/>
                        </a:rPr>
                        <a:t>关键难点</a:t>
                      </a:r>
                    </a:p>
                  </a:txBody>
                  <a:tcPr marL="54864" marR="36576" marT="13716" marB="13716" anchor="ctr">
                    <a:solidFill>
                      <a:srgbClr val="409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2F5FA"/>
                          </a:solidFill>
                          <a:latin typeface="Microsoft YaHei"/>
                          <a:ea typeface="Microsoft YaHei"/>
                        </a:rPr>
                        <a:t>预估人天</a:t>
                      </a:r>
                    </a:p>
                  </a:txBody>
                  <a:tcPr marL="54864" marR="36576" marT="13716" marB="13716" anchor="ctr">
                    <a:solidFill>
                      <a:srgbClr val="4094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Spine 二进制解析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★★★★★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字节级格式逆向、官方移植、槽位/动画/皮肤全量解析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8~12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PRTS 逆向抓取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★★★★☆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SPINEDATA 内嵌结构、反爬、异格/皮肤/敌人多态适配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5~8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Atlas 高清化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★★★★☆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坐标与像素同步放大、尺寸对齐防散架、三引擎超分集成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4~6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无头渲染管线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★★★★☆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CDP 帧同步、流式内存控制、Chrome 生命周期自愈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5~8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图像/视频编码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★★★★☆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GIF LZW 编码、PNG 滤波、FFmpeg 流式管道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4~7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LLM 编排与打标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★★★☆☆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提示词工程、严格 JSON 校验、三档降级模式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3~5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桌面端 UI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★★★☆☆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时间轴编辑器、四步向导、玻璃拟态视觉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6~10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测试与发布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★★★☆☆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交叉验证体系、API Key 安全闸、一键打包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3~5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852160"/>
            <a:ext cx="1124712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F9F43"/>
                </a:solidFill>
                <a:latin typeface="Microsoft YaHei"/>
                <a:ea typeface="Microsoft YaHei"/>
              </a:rPr>
              <a:t>结论：整体属于「高难度全栈工程」——单点难点分散在逆向、图像算法、渲染三个硬核领域，任何一项都需要 1~2 周攻坚。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01622"/>
          </a:solidFill>
          <a:ln w="9525">
            <a:solidFill>
              <a:srgbClr val="0B0E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37744"/>
            <a:ext cx="82296" cy="475488"/>
          </a:xfrm>
          <a:prstGeom prst="rect">
            <a:avLst/>
          </a:prstGeom>
          <a:solidFill>
            <a:srgbClr val="4094FF"/>
          </a:solidFill>
          <a:ln w="9525">
            <a:solidFill>
              <a:srgbClr val="409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46304"/>
            <a:ext cx="10241280" cy="5669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F2F5FA"/>
                </a:solidFill>
                <a:latin typeface="Microsoft YaHei"/>
                <a:ea typeface="Microsoft YaHei"/>
              </a:rPr>
              <a:t>DeepSeek V4 Flash 能力区间评估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105156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8A96AC"/>
                </a:solidFill>
                <a:latin typeface="Microsoft YaHei"/>
                <a:ea typeface="Microsoft YaHei"/>
              </a:rPr>
              <a:t>本项目由 V4 Flash 全程协作完成：架构师 + 工程师 + 测试员 + 文档员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7772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1">
                <a:solidFill>
                  <a:srgbClr val="8A96AC"/>
                </a:solidFill>
                <a:latin typeface="Microsoft YaHei"/>
                <a:ea typeface="Microsoft YaHe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47120" cy="5486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B8C2D4"/>
                </a:solidFill>
                <a:latin typeface="Microsoft YaHei"/>
                <a:ea typeface="Microsoft YaHei"/>
              </a:rPr>
              <a:t>▸ 代码产出：约 1.2 万行源码，横跨 Node.js / 浏览器 / 原生图像编码 / FFmpeg 等 7 层技术栈，一次通过率高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B8C2D4"/>
                </a:solidFill>
                <a:latin typeface="Microsoft YaHei"/>
                <a:ea typeface="Microsoft YaHei"/>
              </a:rPr>
              <a:t>▸ 编写代码 ★★★★★：Spine 二进制解析（734 行）、GIF LZW、atlas 坐标变换等高难度算法可独立完成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B8C2D4"/>
                </a:solidFill>
                <a:latin typeface="Microsoft YaHei"/>
                <a:ea typeface="Microsoft YaHei"/>
              </a:rPr>
              <a:t>▸ 调试排错 ★★★★★：像素错位散架、CDP 超时、GDI 交叉校验、GB 级内存峰值等真实 Bug 均定位到根因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B8C2D4"/>
                </a:solidFill>
                <a:latin typeface="Microsoft YaHei"/>
                <a:ea typeface="Microsoft YaHei"/>
              </a:rPr>
              <a:t>▸ 架构设计 ★★★★☆：模块解耦、接口抽象（三档打标/多超分引擎）、API Key 安全闸等工程化设计到位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B8C2D4"/>
                </a:solidFill>
                <a:latin typeface="Microsoft YaHei"/>
                <a:ea typeface="Microsoft YaHei"/>
              </a:rPr>
              <a:t>▸ 视觉多模态 ✗：无图像理解，动作识别依赖 Qwen-VL 接入或用户标注 —— 已被「三层打标」架构规避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B8C2D4"/>
                </a:solidFill>
                <a:latin typeface="Microsoft YaHei"/>
                <a:ea typeface="Microsoft YaHei"/>
              </a:rPr>
              <a:t>▸ 上下文管理 ★★★★☆：大文件分页审查、长会话保持主线；偶需用户明确指令纠偏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623560"/>
            <a:ext cx="1124712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00C882"/>
                </a:solidFill>
                <a:latin typeface="Microsoft YaHei"/>
                <a:ea typeface="Microsoft YaHei"/>
              </a:rPr>
              <a:t>结论：V4 Flash 达到「资深全栈工程师独立交付 6~10 周项目」的能力区间；配合人工审查与测试，可产出生产级桌面软件。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01622"/>
          </a:solidFill>
          <a:ln w="9525">
            <a:solidFill>
              <a:srgbClr val="0B0E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37744"/>
            <a:ext cx="82296" cy="475488"/>
          </a:xfrm>
          <a:prstGeom prst="rect">
            <a:avLst/>
          </a:prstGeom>
          <a:solidFill>
            <a:srgbClr val="4094FF"/>
          </a:solidFill>
          <a:ln w="9525">
            <a:solidFill>
              <a:srgbClr val="409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46304"/>
            <a:ext cx="10241280" cy="5669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F2F5FA"/>
                </a:solidFill>
                <a:latin typeface="Microsoft YaHei"/>
                <a:ea typeface="Microsoft YaHei"/>
              </a:rPr>
              <a:t>历史演进：16 个 Git 提交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105156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8A96AC"/>
                </a:solidFill>
                <a:latin typeface="Microsoft YaHei"/>
                <a:ea typeface="Microsoft YaHei"/>
              </a:rPr>
              <a:t>从 v1.0.2 到 v1.1.0，见证能力成长曲线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7772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1">
                <a:solidFill>
                  <a:srgbClr val="8A96AC"/>
                </a:solidFill>
                <a:latin typeface="Microsoft YaHei"/>
                <a:ea typeface="Microsoft YaHei"/>
              </a:rP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188720"/>
          <a:ext cx="11201400" cy="49011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8640"/>
                <a:gridCol w="1371600"/>
                <a:gridCol w="92811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2F5FA"/>
                          </a:solidFill>
                          <a:latin typeface="Microsoft YaHei"/>
                          <a:ea typeface="Microsoft YaHei"/>
                        </a:rPr>
                        <a:t>#</a:t>
                      </a:r>
                    </a:p>
                  </a:txBody>
                  <a:tcPr marL="54864" marR="36576" marT="13716" marB="13716" anchor="ctr">
                    <a:solidFill>
                      <a:srgbClr val="409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2F5FA"/>
                          </a:solidFill>
                          <a:latin typeface="Microsoft YaHei"/>
                          <a:ea typeface="Microsoft YaHei"/>
                        </a:rPr>
                        <a:t>Commit</a:t>
                      </a:r>
                    </a:p>
                  </a:txBody>
                  <a:tcPr marL="54864" marR="36576" marT="13716" marB="13716" anchor="ctr">
                    <a:solidFill>
                      <a:srgbClr val="409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2F5FA"/>
                          </a:solidFill>
                          <a:latin typeface="Microsoft YaHei"/>
                          <a:ea typeface="Microsoft YaHei"/>
                        </a:rPr>
                        <a:t>里程碑内容</a:t>
                      </a:r>
                    </a:p>
                  </a:txBody>
                  <a:tcPr marL="54864" marR="36576" marT="13716" marB="13716" anchor="ctr">
                    <a:solidFill>
                      <a:srgbClr val="4094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46dc4a6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v1.0.2 首版：抓取器 + DeepSeek 编排 + 无头渲染 + AI 超分 + 四宫格 + GUI + Key 安全闸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4b48836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工程化：测试产物 out.gif 移出版本库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3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86536e3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文档：四宫格对比指南（README + USAGE）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4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78bc5b8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修复 atlas 缩进致散架 + 按钮解锁 + 玻璃拟态 UI + 缩进回归测试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5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ba93d7f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PRTS atlas/PNG 尺寸对齐防散架 + 对比图旋转矫正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6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40cd622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四步工作流重构 + 动作预览 + PR 式时间轴 + 灯箱预览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7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76aa0d0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千问视觉打标（三档渐进）+ 完整动画预览 + 资源目录分离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8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4679726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PRTS 式分层模型库 + 资料补全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9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5691df3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澄清高清化/生成页控制项，防误操作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10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39e9261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状态栏性能监测（实时图表）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11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e7ec53e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GPU 监测 + 多视图动作混合 + 星级修正 + 时间轴同步修复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12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cc3e641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多视图工作集（批量高清/预览/时间轴）+ 反向查标签 + 防冲突下载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13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d5fa786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高清化页直接显示工作集 + 点击行选对比目标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14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c520056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Chrome 生命周期加固 + 时间轴循环次数 + 预览临时目录 + 网格布局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15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e43d6b5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流式渲染（杜绝 GB 级内存）+ 15 分钟等待轮询 + PNG 帧目录 + 输出防刷屏</a:t>
                      </a:r>
                    </a:p>
                  </a:txBody>
                  <a:tcPr marL="54864" marR="36576" marT="13716" marB="13716" anchor="ctr">
                    <a:solidFill>
                      <a:srgbClr val="161D2B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16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c65f6aa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8C2D4"/>
                          </a:solidFill>
                          <a:latin typeface="Microsoft YaHei"/>
                          <a:ea typeface="Microsoft YaHei"/>
                        </a:rPr>
                        <a:t>最终修正：npm 脚本错字（累趴下）</a:t>
                      </a:r>
                    </a:p>
                  </a:txBody>
                  <a:tcPr marL="54864" marR="36576" marT="13716" marB="13716" anchor="ctr">
                    <a:solidFill>
                      <a:srgbClr val="1A21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01622"/>
          </a:solidFill>
          <a:ln w="9525">
            <a:solidFill>
              <a:srgbClr val="0B0E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37744"/>
            <a:ext cx="82296" cy="475488"/>
          </a:xfrm>
          <a:prstGeom prst="rect">
            <a:avLst/>
          </a:prstGeom>
          <a:solidFill>
            <a:srgbClr val="4094FF"/>
          </a:solidFill>
          <a:ln w="9525">
            <a:solidFill>
              <a:srgbClr val="409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46304"/>
            <a:ext cx="10241280" cy="5669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F2F5FA"/>
                </a:solidFill>
                <a:latin typeface="Microsoft YaHei"/>
                <a:ea typeface="Microsoft YaHei"/>
              </a:rPr>
              <a:t>项目亮点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105156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8A96AC"/>
                </a:solidFill>
                <a:latin typeface="Microsoft YaHei"/>
                <a:ea typeface="Microsoft YaHei"/>
              </a:rPr>
              <a:t>为什么这是一份值得骄傲的作品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7772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1">
                <a:solidFill>
                  <a:srgbClr val="8A96AC"/>
                </a:solidFill>
                <a:latin typeface="Microsoft YaHei"/>
                <a:ea typeface="Microsoft YaHe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47120" cy="5486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45000"/>
              </a:lnSpc>
            </a:pPr>
            <a:r>
              <a:rPr sz="1450" b="0">
                <a:solidFill>
                  <a:srgbClr val="B8C2D4"/>
                </a:solidFill>
                <a:latin typeface="Microsoft YaHei"/>
                <a:ea typeface="Microsoft YaHei"/>
              </a:rPr>
              <a:t>▸ 零依赖哲学：Spine 解析、GIF、PNG 全自研，运行时仅需 Node + Chrome + FFmpeg，开箱即用</a:t>
            </a:r>
          </a:p>
          <a:p>
            <a:pPr algn="l">
              <a:lnSpc>
                <a:spcPct val="145000"/>
              </a:lnSpc>
            </a:pPr>
            <a:r>
              <a:rPr sz="1450" b="0">
                <a:solidFill>
                  <a:srgbClr val="B8C2D4"/>
                </a:solidFill>
                <a:latin typeface="Microsoft YaHei"/>
                <a:ea typeface="Microsoft YaHei"/>
              </a:rPr>
              <a:t>▸ 双数据源 + 本地镜像库：PRTS 逆向 + Ark-Models 备用，仿 PRTS 目录逻辑分层管理干员/敌人/皮肤/视图</a:t>
            </a:r>
          </a:p>
          <a:p>
            <a:pPr algn="l">
              <a:lnSpc>
                <a:spcPct val="145000"/>
              </a:lnSpc>
            </a:pPr>
            <a:r>
              <a:rPr sz="1450" b="0">
                <a:solidFill>
                  <a:srgbClr val="B8C2D4"/>
                </a:solidFill>
                <a:latin typeface="Microsoft YaHei"/>
                <a:ea typeface="Microsoft YaHei"/>
              </a:rPr>
              <a:t>▸ 高清化链路闭环：atlas 坐标与像素同步放大 + 尺寸对齐防散架 + 三引擎超分 + 四宫格对比选型</a:t>
            </a:r>
          </a:p>
          <a:p>
            <a:pPr algn="l">
              <a:lnSpc>
                <a:spcPct val="145000"/>
              </a:lnSpc>
            </a:pPr>
            <a:r>
              <a:rPr sz="1450" b="0">
                <a:solidFill>
                  <a:srgbClr val="B8C2D4"/>
                </a:solidFill>
                <a:latin typeface="Microsoft YaHei"/>
                <a:ea typeface="Microsoft YaHei"/>
              </a:rPr>
              <a:t>▸ 动作语义三层打标：离线正则 / Qwen-VL 视觉 / 人工微调，渐进式增强三档模式，越用越聪明</a:t>
            </a:r>
          </a:p>
          <a:p>
            <a:pPr algn="l">
              <a:lnSpc>
                <a:spcPct val="145000"/>
              </a:lnSpc>
            </a:pPr>
            <a:r>
              <a:rPr sz="1450" b="0">
                <a:solidFill>
                  <a:srgbClr val="B8C2D4"/>
                </a:solidFill>
                <a:latin typeface="Microsoft YaHei"/>
                <a:ea typeface="Microsoft YaHei"/>
              </a:rPr>
              <a:t>▸ 流式渲染架构：帧过管道不进堆内存，300 帧 5 秒动画稳定导出，内存峰值可控</a:t>
            </a:r>
          </a:p>
          <a:p>
            <a:pPr algn="l">
              <a:lnSpc>
                <a:spcPct val="145000"/>
              </a:lnSpc>
            </a:pPr>
            <a:r>
              <a:rPr sz="1450" b="0">
                <a:solidFill>
                  <a:srgbClr val="B8C2D4"/>
                </a:solidFill>
                <a:latin typeface="Microsoft YaHei"/>
                <a:ea typeface="Microsoft YaHei"/>
              </a:rPr>
              <a:t>▸ 多视图工作集：基建 / 战斗正面 / 战斗背面动作可混排进同一时间轴，创作自由度拉满</a:t>
            </a:r>
          </a:p>
          <a:p>
            <a:pPr algn="l">
              <a:lnSpc>
                <a:spcPct val="145000"/>
              </a:lnSpc>
            </a:pPr>
            <a:r>
              <a:rPr sz="1450" b="0">
                <a:solidFill>
                  <a:srgbClr val="B8C2D4"/>
                </a:solidFill>
                <a:latin typeface="Microsoft YaHei"/>
                <a:ea typeface="Microsoft YaHei"/>
              </a:rPr>
              <a:t>▸ 安全与鲁棒：API Key 不硬编码不入库、发布安全闸、Chrome 生命周期自愈、15 分钟任务等待轮询</a:t>
            </a:r>
          </a:p>
          <a:p>
            <a:pPr algn="l">
              <a:lnSpc>
                <a:spcPct val="145000"/>
              </a:lnSpc>
            </a:pPr>
            <a:r>
              <a:rPr sz="1450" b="0">
                <a:solidFill>
                  <a:srgbClr val="B8C2D4"/>
                </a:solidFill>
                <a:latin typeface="Microsoft YaHei"/>
                <a:ea typeface="Microsoft YaHei"/>
              </a:rPr>
              <a:t>▸ 完整测试体系：解析/编码/对齐/打包均有自动化交叉验证，高风险逻辑有回归保障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01622"/>
          </a:solidFill>
          <a:ln w="9525">
            <a:solidFill>
              <a:srgbClr val="0B0E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37744"/>
            <a:ext cx="82296" cy="475488"/>
          </a:xfrm>
          <a:prstGeom prst="rect">
            <a:avLst/>
          </a:prstGeom>
          <a:solidFill>
            <a:srgbClr val="4094FF"/>
          </a:solidFill>
          <a:ln w="9525">
            <a:solidFill>
              <a:srgbClr val="409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46304"/>
            <a:ext cx="10241280" cy="5669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F2F5FA"/>
                </a:solidFill>
                <a:latin typeface="Microsoft YaHei"/>
                <a:ea typeface="Microsoft YaHei"/>
              </a:rPr>
              <a:t>总结 · 风险 · 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105156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8A96AC"/>
                </a:solidFill>
                <a:latin typeface="Microsoft YaHei"/>
                <a:ea typeface="Microsoft YaHei"/>
              </a:rPr>
              <a:t>收官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7772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1">
                <a:solidFill>
                  <a:srgbClr val="8A96AC"/>
                </a:solidFill>
                <a:latin typeface="Microsoft YaHei"/>
                <a:ea typeface="Microsoft YaHei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11201400" cy="1234440"/>
          </a:xfrm>
          <a:prstGeom prst="roundRect">
            <a:avLst/>
          </a:prstGeom>
          <a:solidFill>
            <a:srgbClr val="161D2B"/>
          </a:solidFill>
          <a:ln w="9525">
            <a:solidFill>
              <a:srgbClr val="00C8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78992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F2F5FA"/>
                </a:solidFill>
                <a:latin typeface="Microsoft YaHei"/>
                <a:ea typeface="Microsoft YaHei"/>
              </a:rPr>
              <a:t>总结：从「一句自然语言」到「一段角色动画」的全自动单机流水线已完整跑通 —— 拉取 → 高清化 → 打标 → 编排 → 渲染 → 导出，v1.1.0 发布包（149.6MB）已推送 GitHub。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06040"/>
            <a:ext cx="5486400" cy="2377440"/>
          </a:xfrm>
          <a:prstGeom prst="roundRect">
            <a:avLst/>
          </a:prstGeom>
          <a:solidFill>
            <a:srgbClr val="161D2B"/>
          </a:solidFill>
          <a:ln w="9525">
            <a:solidFill>
              <a:srgbClr val="FF5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50292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FF5C7A"/>
                </a:solidFill>
                <a:latin typeface="Microsoft YaHei"/>
                <a:ea typeface="Microsoft YaHei"/>
              </a:rPr>
              <a:t>主要风险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54680"/>
            <a:ext cx="5029200" cy="20116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B8C2D4"/>
                </a:solidFill>
                <a:latin typeface="Microsoft YaHei"/>
                <a:ea typeface="Microsoft YaHei"/>
              </a:rPr>
              <a:t>▸ PRTS 站点结构变动需持续适配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B8C2D4"/>
                </a:solidFill>
                <a:latin typeface="Microsoft YaHei"/>
                <a:ea typeface="Microsoft YaHei"/>
              </a:rPr>
              <a:t>▸ Spine 3.8 与新版二进制文件兼容边界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B8C2D4"/>
                </a:solidFill>
                <a:latin typeface="Microsoft YaHei"/>
                <a:ea typeface="Microsoft YaHei"/>
              </a:rPr>
              <a:t>▸ LLM 幻觉：依赖严格 JSON 校验与用户确认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606040"/>
            <a:ext cx="5486400" cy="2377440"/>
          </a:xfrm>
          <a:prstGeom prst="roundRect">
            <a:avLst/>
          </a:prstGeom>
          <a:solidFill>
            <a:srgbClr val="161D2B"/>
          </a:solidFill>
          <a:ln w="9525">
            <a:solidFill>
              <a:srgbClr val="409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743200"/>
            <a:ext cx="50292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094FF"/>
                </a:solidFill>
                <a:latin typeface="Microsoft YaHei"/>
                <a:ea typeface="Microsoft YaHei"/>
              </a:rPr>
              <a:t>未来展望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154680"/>
            <a:ext cx="5029200" cy="20116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B8C2D4"/>
                </a:solidFill>
                <a:latin typeface="Microsoft YaHei"/>
                <a:ea typeface="Microsoft YaHei"/>
              </a:rPr>
              <a:t>▸ WebM 视频直出，绕过逐帧截图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B8C2D4"/>
                </a:solidFill>
                <a:latin typeface="Microsoft YaHei"/>
                <a:ea typeface="Microsoft YaHei"/>
              </a:rPr>
              <a:t>▸ 云渲染与动作词典社区共享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B8C2D4"/>
                </a:solidFill>
                <a:latin typeface="Microsoft YaHei"/>
                <a:ea typeface="Microsoft YaHei"/>
              </a:rPr>
              <a:t>▸ 多角色同台演出、动作迁移复用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166360"/>
            <a:ext cx="11201400" cy="960120"/>
          </a:xfrm>
          <a:prstGeom prst="roundRect">
            <a:avLst/>
          </a:prstGeom>
          <a:solidFill>
            <a:srgbClr val="161D2B"/>
          </a:solidFill>
          <a:ln w="9525">
            <a:solidFill>
              <a:srgbClr val="B47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303520"/>
            <a:ext cx="1078992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F2F5FA"/>
                </a:solidFill>
                <a:latin typeface="Microsoft YaHei"/>
                <a:ea typeface="Microsoft YaHei"/>
              </a:rPr>
              <a:t>致开发者 yiyuxi123：从第一行代码到 16 个版本迭代，这个项目展示了「人类创意 × AI 工程力」的最佳组合。愿它继续生长，成为社区里最有「舟味」的创作工具。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